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9"/>
  </p:notesMasterIdLst>
  <p:handoutMasterIdLst>
    <p:handoutMasterId r:id="rId30"/>
  </p:handoutMasterIdLst>
  <p:sldIdLst>
    <p:sldId id="256" r:id="rId5"/>
    <p:sldId id="258" r:id="rId6"/>
    <p:sldId id="275" r:id="rId7"/>
    <p:sldId id="261" r:id="rId8"/>
    <p:sldId id="276" r:id="rId9"/>
    <p:sldId id="277" r:id="rId10"/>
    <p:sldId id="263" r:id="rId11"/>
    <p:sldId id="278" r:id="rId12"/>
    <p:sldId id="279" r:id="rId13"/>
    <p:sldId id="280" r:id="rId14"/>
    <p:sldId id="281" r:id="rId15"/>
    <p:sldId id="282" r:id="rId16"/>
    <p:sldId id="264" r:id="rId17"/>
    <p:sldId id="265" r:id="rId18"/>
    <p:sldId id="266" r:id="rId19"/>
    <p:sldId id="274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60" r:id="rId28"/>
  </p:sldIdLst>
  <p:sldSz cx="12192000" cy="6858000"/>
  <p:notesSz cx="6858000" cy="9144000"/>
  <p:custDataLst>
    <p:tags r:id="rId31"/>
  </p:custDataLst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93" d="100"/>
          <a:sy n="93" d="100"/>
        </p:scale>
        <p:origin x="84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0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9F1BE22-BD3B-4BA8-95EA-7296A8AA5B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1B770D1-9BE8-4AC6-9AD5-C0F8842DA9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BDF94E-9595-4903-9DDC-FDADCBF39DEC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3564C92-A1B1-4C40-AB8E-3EF83F2633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FAC9FD2-4C64-4A97-8ED4-C91CF8701F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040FA-3B2C-4E13-BFFD-C11A22D11A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03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82EF54-A1F6-4E34-830B-86C7368B97CA}" type="datetimeFigureOut">
              <a:rPr lang="pt-BR" noProof="0" smtClean="0"/>
              <a:t>20/05/2026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4D1C2-4E59-41B0-9C33-711FA5262530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084557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32244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2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71497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72A83-9528-5600-4468-4B28CC50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26424C-A84D-059E-73DB-B56F6F5ED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0FACBB-079E-8D7B-E4C5-CD1AE7322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8198C5-CEC1-25DE-5766-0515106A5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3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771230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BF474-10E2-D49C-1E51-B537B9150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63C6C84-CC2F-3280-D9C6-2B949A2B2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CF49E9-8ABA-15A7-D4ED-AE01476EB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344E83-C2A9-1811-0CE1-AAB400742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4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751919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8370E-1A90-3AFF-D1E1-E961D175A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5FBC76-6CE6-CA35-94C4-EFFDCB8C1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2481E41-1815-4406-E8B9-9BD54AA62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159B97-FD8B-FBAD-D44D-C681E71D0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5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180028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C2DA9-7528-A924-A997-A4D587D6E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B1DC4D-9A01-E05C-A75A-C6DE9F97E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B93266-EC8B-91FE-A84C-DF3CD4573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4F42FB-765A-1ACA-498A-412CBCBF5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721883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2B6FE-70F2-4975-7667-AFC2D9306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FA1F3DD-1593-83B9-DB5D-4A4F3E0B1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B526962-A588-EE56-8F33-03A350FD1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33691D-F1A5-0051-177E-957C27CC5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7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934609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CEF36-D50D-B86E-F091-C04931FE4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78412D-44F5-8BE3-F63C-5277DDE8D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389A8C-FFF5-DAA0-3331-CAB6D3FA9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4E079F-E233-083B-0CBE-472CADD6F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8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15853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B86F3-690B-D17D-06CB-03203362B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5D44EE6-6C08-8170-E27B-D2453F1F1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D28707-92DA-F88C-AFF0-2DDFC151E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A99598-CF9B-EBA8-2348-40BDD0C7F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9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47313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6C061-67A1-7585-21E8-AC2FF2341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3AA5E3-22E7-ABDD-1052-58027D5F8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2685EA7-18EC-FF72-31FC-BF7C0D64F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3D1FD6-D148-3CDE-FAC3-0E87CC44B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10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49580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9E337-1FA8-F5C4-0293-F1FFDF73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295A03-75A0-DA8C-F39B-C0924C1AC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8939108-615E-027D-2B9E-CCD2BEA97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421AB7-325A-6473-4D12-F3CC35F61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955384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9F489-A85B-E22B-66EC-AB94D0BBA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45AFA6-0471-CE7B-B78A-9155C643C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3DABC64-91D6-9F94-68C4-7CECE3027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0E005AE-401A-98B1-CB82-BB8FDE0FC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12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742668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2A3D5-A10B-0E4A-1E0B-B66EC828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4B75818-B828-F9E5-BD5B-A8F5E37FD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E5580A-F8D9-1A5A-78AA-5615E5F95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44FDAC-96FD-EDC3-42E0-B5C9DB4739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13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828385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DA68B-504B-8A52-CFF6-6F1F8DFE1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A934759-5696-5A63-F835-70DE7864B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7936E59-6916-FFF0-27C0-B638C2AD3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EEA82ED-708A-9D42-EFD8-9ECC0CB317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14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08834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7079-58FB-6620-8A67-FCBB2C00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AC7C312-8A87-B49F-837B-0DB477466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BE1CF3-9144-6B85-E7ED-0F1E009F2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CCE761-CBE5-827D-805E-7741DEDEE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15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8062255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E38E4-F82C-F7F6-913E-562FF243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56C325D-7EA5-82AD-8DAD-2F3CB846B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4620B9D-6F0C-EE3E-FB0A-9856695A0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89146D-0050-D35B-CB6B-2664736F5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11325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FB566-05BB-F2C2-8CA4-1D08476EA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2D779D6-44B6-EE84-9978-C00C4DC9D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F3177CD-103F-0751-8148-21A05420B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78F780-F420-9232-8F43-7ED77E303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17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44745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874BD-E33C-2D73-0779-370A5B15D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3AE6563-49D6-9472-C737-E63D61E12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3EBA831-154F-FFF7-F59E-4DC029CE8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FAF57D-66DD-0A6A-90B4-4CD383F50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18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86847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ECABE-9F3A-E118-D7BB-617BF7311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BF9F1C6-2A1B-7887-5FC5-8BC7C5B7A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76AF720-83F2-43BC-822C-5C2F59472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BA2FD1-4F85-2FF1-175B-8F5CF1569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19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189356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29EA-21C4-898C-D43E-35F3AE4D7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22CEF0F-E533-2E63-BB6D-DEE8C4021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C3F8ADE-3D84-C902-6B73-78BC1384A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D892B7-2ACB-7B98-6B7D-5220D501B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20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5826815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B3BD-49D4-D898-CD14-1DC8F3700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C006F8-578A-0C49-E133-56035B0B0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74C2B66-62BB-9B4B-1F93-041BDEA38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14F02A-B281-4272-7E6C-F17392045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21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2217854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253E-8814-520A-8DD1-04F32C6B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B8C7A6-8B85-E431-E387-74A4FB098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9BA2E47-9354-0A34-084F-7EFD5C6BE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951741-3283-035A-0B6B-F4C821064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22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230146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29B12-8D41-2D36-0130-DDCE4DB10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023251A-2875-E4FB-6DD0-68D91267C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D6D6E22-4E6B-A815-2045-4EF7A82B3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E941F75-AEF2-BADF-B373-6D150180B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23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922796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B4D1C2-4E59-41B0-9C33-711FA5262530}" type="slidenum">
              <a:rPr lang="pt-BR" noProof="0" smtClean="0"/>
              <a:t>24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0059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9234CA2-9F5E-48FA-843C-0B2031554A67}" type="datetime1">
              <a:rPr lang="pt-BR" noProof="0" smtClean="0"/>
              <a:t>20/05/2026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B1F27E-7DAF-45D3-90B3-991C8DB57655}" type="datetime1">
              <a:rPr lang="pt-BR" noProof="0" smtClean="0"/>
              <a:t>20/05/2026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C84BDBB-7383-475F-BEA4-6DEA016CA495}" type="datetime1">
              <a:rPr lang="pt-BR" noProof="0" smtClean="0"/>
              <a:t>20/05/2026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0F057F5-8FF5-4D8D-8D1D-AB2EA718C0A8}" type="datetime1">
              <a:rPr lang="pt-BR" noProof="0" smtClean="0"/>
              <a:t>20/05/2026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6DEE47-7D13-43F4-ABED-3A5080F68646}" type="datetime1">
              <a:rPr lang="pt-BR" noProof="0" smtClean="0"/>
              <a:t>20/05/2026</a:t>
            </a:fld>
            <a:endParaRPr lang="pt-BR" noProof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973E3D-DBBF-4A29-999A-7303C12DCD81}" type="datetime1">
              <a:rPr lang="pt-BR" noProof="0" smtClean="0"/>
              <a:t>20/05/2026</a:t>
            </a:fld>
            <a:endParaRPr lang="pt-BR" noProof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7" name="Retâ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4E23CD-D9DA-4A76-9BB0-7BEF6E78EC36}" type="datetime1">
              <a:rPr lang="pt-BR" noProof="0" smtClean="0"/>
              <a:t>20/05/2026</a:t>
            </a:fld>
            <a:endParaRPr lang="pt-BR" noProof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782A511-DCA3-4DB1-B232-6DE9BF3E093E}" type="datetime1">
              <a:rPr lang="pt-BR" noProof="0" smtClean="0"/>
              <a:t>20/05/2026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A46BD8-7B90-4F0C-B77B-34482E71BE4B}" type="datetime1">
              <a:rPr lang="pt-BR" noProof="0" smtClean="0"/>
              <a:t>20/05/2026</a:t>
            </a:fld>
            <a:endParaRPr lang="pt-BR" noProof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1BE170-2D6A-4F23-959F-F3FDD7EE17C8}" type="datetime1">
              <a:rPr lang="pt-BR" noProof="0" smtClean="0"/>
              <a:t>20/05/2026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CF2502B-DA48-44EE-974F-4401E37897C2}" type="datetime1">
              <a:rPr lang="pt-BR" noProof="0" smtClean="0"/>
              <a:t>20/05/2026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0D110607-227D-4A11-B3D0-0B2B6E648C32}" type="datetime1">
              <a:rPr lang="pt-BR" noProof="0" smtClean="0"/>
              <a:t>20/05/2026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t-BR" noProof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9" name="Retâ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â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pic>
        <p:nvPicPr>
          <p:cNvPr id="7" name="Imagem 6" descr="Conexões Digitai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r>
              <a:rPr lang="pt-BR" dirty="0" err="1">
                <a:solidFill>
                  <a:schemeClr val="bg1">
                    <a:lumMod val="95000"/>
                  </a:schemeClr>
                </a:solidFill>
              </a:rPr>
              <a:t>Convex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Hull 3D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r>
              <a:rPr lang="pt-BR" dirty="0"/>
              <a:t>Método de Força Bruta</a:t>
            </a:r>
          </a:p>
          <a:p>
            <a:pPr rtl="0"/>
            <a:endParaRPr lang="pt-BR" dirty="0">
              <a:solidFill>
                <a:srgbClr val="7CEBFF"/>
              </a:solidFill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1957FE8-9508-6051-2C55-92DBD5E65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Objetivo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55EA73-58DC-219B-93F6-04990D90A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r>
              <a:rPr lang="pt-BR" dirty="0"/>
              <a:t>Carregar modelos .</a:t>
            </a:r>
            <a:r>
              <a:rPr lang="pt-BR" dirty="0" err="1"/>
              <a:t>obj</a:t>
            </a:r>
            <a:endParaRPr lang="pt-BR" dirty="0"/>
          </a:p>
          <a:p>
            <a:r>
              <a:rPr lang="pt-BR" dirty="0"/>
              <a:t>Gerar pontos aleatórios em 3D</a:t>
            </a:r>
          </a:p>
          <a:p>
            <a:r>
              <a:rPr lang="pt-BR" dirty="0"/>
              <a:t>Construir o </a:t>
            </a:r>
            <a:r>
              <a:rPr lang="pt-BR" dirty="0" err="1"/>
              <a:t>Convex</a:t>
            </a:r>
            <a:r>
              <a:rPr lang="pt-BR" dirty="0"/>
              <a:t> Hull</a:t>
            </a:r>
          </a:p>
          <a:p>
            <a:r>
              <a:rPr lang="pt-BR" dirty="0"/>
              <a:t>Visualizar: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pt-BR" dirty="0"/>
              <a:t>pontos originais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pt-BR" dirty="0"/>
              <a:t>vértices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pt-BR" dirty="0"/>
              <a:t>arestas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pt-BR" dirty="0"/>
              <a:t>faces</a:t>
            </a:r>
          </a:p>
          <a:p>
            <a:r>
              <a:rPr lang="pt-BR" dirty="0"/>
              <a:t>Navegação interativa com câmera 3D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767AA641-8A3B-4A1B-CD42-194D7F72D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22EA5-66B9-4A85-5FD7-AF0965543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2C631-6621-E6C7-562E-FE67DC06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Tecnologias </a:t>
            </a:r>
            <a:r>
              <a:rPr lang="pt-BR" dirty="0" err="1"/>
              <a:t>utilzadas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C9C589-087C-05DB-0115-868080E82D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b="1" dirty="0"/>
              <a:t>Bibliotecas utilizadas</a:t>
            </a:r>
          </a:p>
          <a:p>
            <a:pPr marL="0" indent="0">
              <a:buNone/>
            </a:pPr>
            <a:r>
              <a:rPr lang="pt-BR" b="1" dirty="0"/>
              <a:t>Interface</a:t>
            </a:r>
          </a:p>
          <a:p>
            <a:r>
              <a:rPr lang="pt-BR" dirty="0" err="1"/>
              <a:t>ImGui</a:t>
            </a:r>
            <a:endParaRPr lang="pt-BR" dirty="0"/>
          </a:p>
          <a:p>
            <a:r>
              <a:rPr lang="pt-BR" b="1" dirty="0"/>
              <a:t>Janela e Input</a:t>
            </a:r>
          </a:p>
          <a:p>
            <a:r>
              <a:rPr lang="pt-BR" dirty="0"/>
              <a:t>GLFW</a:t>
            </a:r>
          </a:p>
          <a:p>
            <a:pPr marL="0" indent="0">
              <a:buNone/>
            </a:pPr>
            <a:r>
              <a:rPr lang="pt-BR" b="1" dirty="0"/>
              <a:t>Renderização</a:t>
            </a:r>
          </a:p>
          <a:p>
            <a:r>
              <a:rPr lang="pt-BR" dirty="0"/>
              <a:t>OpenGL</a:t>
            </a:r>
          </a:p>
          <a:p>
            <a:r>
              <a:rPr lang="pt-BR" dirty="0"/>
              <a:t>GLU</a:t>
            </a:r>
          </a:p>
          <a:p>
            <a:r>
              <a:rPr lang="pt-BR" dirty="0"/>
              <a:t>GLEW</a:t>
            </a:r>
          </a:p>
          <a:p>
            <a:pPr marL="0" indent="0">
              <a:buNone/>
            </a:pPr>
            <a:r>
              <a:rPr lang="pt-BR" b="1" dirty="0"/>
              <a:t>Geometria Computacional</a:t>
            </a:r>
          </a:p>
          <a:p>
            <a:r>
              <a:rPr lang="pt-BR" dirty="0"/>
              <a:t>CGAL (para comparação)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A4E36F5-F1BB-2164-4B02-AC508A53E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236558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A3584-4F09-41A0-C963-0617D8FC1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928E6-1951-2E0A-1124-FCE98270E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O que é </a:t>
            </a:r>
            <a:r>
              <a:rPr lang="pt-BR" dirty="0" err="1"/>
              <a:t>Convex</a:t>
            </a:r>
            <a:r>
              <a:rPr lang="pt-BR" dirty="0"/>
              <a:t> Hull?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05E79F-041D-1320-0607-5E5921668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O </a:t>
            </a:r>
            <a:r>
              <a:rPr lang="pt-BR" b="1" dirty="0" err="1"/>
              <a:t>Convex</a:t>
            </a:r>
            <a:r>
              <a:rPr lang="pt-BR" b="1" dirty="0"/>
              <a:t> Hull</a:t>
            </a:r>
            <a:r>
              <a:rPr lang="pt-BR" dirty="0"/>
              <a:t> é o menor volume convexo que contém todos os pontos.</a:t>
            </a:r>
          </a:p>
          <a:p>
            <a:pPr marL="0" indent="0">
              <a:buNone/>
            </a:pPr>
            <a:r>
              <a:rPr lang="pt-BR" dirty="0"/>
              <a:t>Intuição:</a:t>
            </a:r>
          </a:p>
          <a:p>
            <a:r>
              <a:rPr lang="pt-BR" dirty="0"/>
              <a:t>Como "envolver" os pontos com um plástico esticado</a:t>
            </a:r>
          </a:p>
          <a:p>
            <a:r>
              <a:rPr lang="pt-BR" dirty="0"/>
              <a:t>A forma resultante é o </a:t>
            </a:r>
            <a:r>
              <a:rPr lang="pt-BR" dirty="0" err="1"/>
              <a:t>Convex</a:t>
            </a:r>
            <a:r>
              <a:rPr lang="pt-BR" dirty="0"/>
              <a:t> Hull.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857C509-25F0-2D66-AF11-6AA98E2D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318857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256E-426D-3B46-DF12-0A8C9CB2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D9EB0-C9F0-A98A-2B30-57B47BDF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Exemplo conceitual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0B87DD-BC9E-AF54-515D-B90C70863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Em 2D</a:t>
            </a:r>
          </a:p>
          <a:p>
            <a:r>
              <a:rPr lang="pt-BR" dirty="0"/>
              <a:t>pontos espalhados</a:t>
            </a:r>
          </a:p>
          <a:p>
            <a:r>
              <a:rPr lang="pt-BR" dirty="0"/>
              <a:t>contorno externo conecta os pontos extremos</a:t>
            </a:r>
          </a:p>
          <a:p>
            <a:pPr marL="0" indent="0">
              <a:buNone/>
            </a:pPr>
            <a:r>
              <a:rPr lang="pt-BR" b="1" dirty="0"/>
              <a:t>Em 3D</a:t>
            </a:r>
          </a:p>
          <a:p>
            <a:r>
              <a:rPr lang="pt-BR" dirty="0"/>
              <a:t>o </a:t>
            </a:r>
            <a:r>
              <a:rPr lang="pt-BR" dirty="0" err="1"/>
              <a:t>hull</a:t>
            </a:r>
            <a:r>
              <a:rPr lang="pt-BR" dirty="0"/>
              <a:t> vira uma casca tridimensional</a:t>
            </a:r>
          </a:p>
          <a:p>
            <a:r>
              <a:rPr lang="pt-BR" dirty="0"/>
              <a:t>composto por triângulos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61B9E13-B798-DE54-1336-BE3E94B6D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55516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CB2FF-E2EF-0401-FAC2-7A003DF1C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EA130-55BB-304E-B509-24BDB61A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 err="1"/>
              <a:t>Estrategia</a:t>
            </a:r>
            <a:r>
              <a:rPr lang="pt-BR" dirty="0"/>
              <a:t> utilizada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12ACC9-7696-C405-299E-98EA2B8515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Algoritmo de Força Bruta</a:t>
            </a:r>
          </a:p>
          <a:p>
            <a:pPr marL="0" indent="0">
              <a:buNone/>
            </a:pPr>
            <a:r>
              <a:rPr lang="pt-BR" b="1" dirty="0"/>
              <a:t>Ideia principal</a:t>
            </a:r>
          </a:p>
          <a:p>
            <a:pPr marL="0" indent="0">
              <a:buNone/>
            </a:pPr>
            <a:r>
              <a:rPr lang="pt-BR" dirty="0"/>
              <a:t>Testar TODAS as combinações possíveis de:</a:t>
            </a:r>
          </a:p>
          <a:p>
            <a:r>
              <a:rPr lang="pt-BR" dirty="0"/>
              <a:t>3 pontos são uma possível face</a:t>
            </a:r>
          </a:p>
          <a:p>
            <a:pPr marL="0" indent="0">
              <a:buNone/>
            </a:pPr>
            <a:r>
              <a:rPr lang="pt-BR" dirty="0"/>
              <a:t>Depois verificar:</a:t>
            </a:r>
          </a:p>
          <a:p>
            <a:r>
              <a:rPr lang="pt-BR" dirty="0"/>
              <a:t>todos os outros pontos estão do mesmo lado do plano?</a:t>
            </a:r>
          </a:p>
          <a:p>
            <a:pPr marL="0" indent="0">
              <a:buNone/>
            </a:pPr>
            <a:r>
              <a:rPr lang="pt-BR" dirty="0"/>
              <a:t>Se sim:</a:t>
            </a:r>
          </a:p>
          <a:p>
            <a:pPr marL="0" indent="0">
              <a:buNone/>
            </a:pPr>
            <a:r>
              <a:rPr lang="pt-BR" dirty="0"/>
              <a:t>	o triângulo pertence ao </a:t>
            </a:r>
            <a:r>
              <a:rPr lang="pt-BR" dirty="0" err="1"/>
              <a:t>Convex</a:t>
            </a:r>
            <a:r>
              <a:rPr lang="pt-BR" dirty="0"/>
              <a:t> Hull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D92F260-C4B8-638C-8D25-059AA4A7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2674074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2C69A-50B2-7D87-3919-EDE26A5B8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1BB48-D1EF-E31A-875A-D83B7F958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Passo a Passo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EA70CD1-8EC7-4DA9-6CBA-2326C17E2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Para cada tripla (i, j, k):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Escolher 3 pontos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Construir plano</a:t>
            </a:r>
          </a:p>
          <a:p>
            <a:pPr marL="342900" indent="-342900">
              <a:buFont typeface="+mj-lt"/>
              <a:buAutoNum type="arabicPeriod"/>
            </a:pPr>
            <a:r>
              <a:rPr lang="pt-BR" dirty="0"/>
              <a:t>Testar todos os pontos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12926C6-47CA-924E-9CFB-C147FA119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2866424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14CE6-8B03-AF08-BB95-1B541A51F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72204-FC5B-9272-E0CD-649467990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Passo i: escolher 3 pontos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D4AED2-CF98-8D32-4371-108C64E64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Formação de um triângulo candidato</a:t>
            </a:r>
            <a:endParaRPr lang="pt-BR" dirty="0"/>
          </a:p>
          <a:p>
            <a:pPr marL="324000" lvl="1" indent="0">
              <a:buNone/>
            </a:pPr>
            <a:r>
              <a:rPr lang="pt-BR" dirty="0"/>
              <a:t>O algoritmo escolhe:</a:t>
            </a:r>
          </a:p>
          <a:p>
            <a:pPr lvl="1"/>
            <a:r>
              <a:rPr lang="pt-BR" dirty="0"/>
              <a:t>P1, P2, P3</a:t>
            </a:r>
          </a:p>
          <a:p>
            <a:pPr marL="324000" lvl="1" indent="0">
              <a:buNone/>
            </a:pPr>
            <a:r>
              <a:rPr lang="pt-BR" dirty="0"/>
              <a:t>Esses pontos formam um plano.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B547B3E-79F8-6F0E-5512-589B073B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241483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B8A31-3A21-2211-7F7A-519A1F900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85323F-BBAE-7D86-037F-FFB17B78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Passo </a:t>
            </a:r>
            <a:r>
              <a:rPr lang="pt-BR" dirty="0" err="1"/>
              <a:t>ii</a:t>
            </a:r>
            <a:r>
              <a:rPr lang="pt-BR" dirty="0"/>
              <a:t>: construir i plano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28FC9A-34BC-4967-1F18-3954EE43AC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Vetores da face</a:t>
            </a:r>
          </a:p>
          <a:p>
            <a:pPr marL="324000" lvl="1" indent="0">
              <a:buNone/>
            </a:pPr>
            <a:r>
              <a:rPr lang="pt-BR" dirty="0"/>
              <a:t>A partir do ponto base:</a:t>
            </a:r>
          </a:p>
          <a:p>
            <a:pPr lvl="1"/>
            <a:r>
              <a:rPr lang="pt-BR" dirty="0"/>
              <a:t>edge1 = points[b] - points[a]</a:t>
            </a:r>
          </a:p>
          <a:p>
            <a:pPr lvl="1"/>
            <a:r>
              <a:rPr lang="pt-BR" dirty="0"/>
              <a:t>edge2 = points[c] - points[a]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A9B8D6A-C7D6-E182-57C8-070AFAF2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3094044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59C87-B4A2-A76B-ECF2-741D5A3C2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BF862-5412-51DF-1E06-874B5DAC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Passo </a:t>
            </a:r>
            <a:r>
              <a:rPr lang="pt-BR" dirty="0" err="1"/>
              <a:t>ii</a:t>
            </a:r>
            <a:r>
              <a:rPr lang="pt-BR" dirty="0"/>
              <a:t>: Produto vetorial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1B3720D-F11F-EBDB-7A83-82835044B9E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81193" y="2228003"/>
                <a:ext cx="11029616" cy="363304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pt-BR" b="1" dirty="0"/>
                  <a:t>Normal da face</a:t>
                </a:r>
              </a:p>
              <a:p>
                <a:pPr marL="0" indent="0">
                  <a:buNone/>
                </a:pPr>
                <a:r>
                  <a:rPr lang="pt-BR" dirty="0"/>
                  <a:t>A normal é obtida por: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ar-AE"/>
                        </m:ctrlPr>
                      </m:accPr>
                      <m:e>
                        <m:r>
                          <a:rPr lang="ar-AE" i="1"/>
                          <m:t>𝑛</m:t>
                        </m:r>
                      </m:e>
                    </m:acc>
                    <m:r>
                      <a:rPr lang="ar-AE"/>
                      <m:t>=</m:t>
                    </m:r>
                    <m:acc>
                      <m:accPr>
                        <m:chr m:val="⃗"/>
                        <m:ctrlPr>
                          <a:rPr lang="ar-AE" i="1"/>
                        </m:ctrlPr>
                      </m:accPr>
                      <m:e>
                        <m:r>
                          <a:rPr lang="ar-AE" i="1"/>
                          <m:t>𝑒𝑑𝑔𝑒</m:t>
                        </m:r>
                        <m:r>
                          <a:rPr lang="ar-AE"/>
                          <m:t>1</m:t>
                        </m:r>
                      </m:e>
                    </m:acc>
                    <m:r>
                      <a:rPr lang="ar-AE"/>
                      <m:t>×</m:t>
                    </m:r>
                    <m:acc>
                      <m:accPr>
                        <m:chr m:val="⃗"/>
                        <m:ctrlPr>
                          <a:rPr lang="ar-AE" i="1"/>
                        </m:ctrlPr>
                      </m:accPr>
                      <m:e>
                        <m:r>
                          <a:rPr lang="ar-AE" i="1"/>
                          <m:t>𝑒𝑑𝑔𝑒</m:t>
                        </m:r>
                        <m:r>
                          <a:rPr lang="ar-AE"/>
                          <m:t>2</m:t>
                        </m:r>
                      </m:e>
                    </m:acc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pt-BR" dirty="0"/>
                  <a:t>A normal indica:</a:t>
                </a:r>
              </a:p>
              <a:p>
                <a:r>
                  <a:rPr lang="pt-BR" dirty="0"/>
                  <a:t>orientação do plano</a:t>
                </a:r>
              </a:p>
              <a:p>
                <a:r>
                  <a:rPr lang="pt-BR" dirty="0"/>
                  <a:t>qual lado é positivo</a:t>
                </a:r>
              </a:p>
              <a:p>
                <a:r>
                  <a:rPr lang="pt-BR" dirty="0"/>
                  <a:t>qual lado é negativo</a:t>
                </a:r>
              </a:p>
            </p:txBody>
          </p:sp>
        </mc:Choice>
        <mc:Fallback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1B3720D-F11F-EBDB-7A83-82835044B9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81193" y="2228003"/>
                <a:ext cx="11029616" cy="3633047"/>
              </a:xfrm>
              <a:blipFill>
                <a:blip r:embed="rId3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2046A32-AE5B-88E2-6381-1943F845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1104471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A0993-3ECC-5EF8-32E8-B0E60093B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52DC1-D785-47AF-FE8D-8FA04A73B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Passo </a:t>
            </a:r>
            <a:r>
              <a:rPr lang="pt-BR" dirty="0" err="1"/>
              <a:t>iii</a:t>
            </a:r>
            <a:r>
              <a:rPr lang="pt-BR" dirty="0"/>
              <a:t>: testar todos os pontos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F9AA98-4C57-B5B9-D2BC-81F994BD9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Verificação geométrica</a:t>
            </a:r>
          </a:p>
          <a:p>
            <a:pPr marL="0" indent="0">
              <a:buNone/>
            </a:pPr>
            <a:r>
              <a:rPr lang="pt-BR" dirty="0"/>
              <a:t>Para cada ponto restante:</a:t>
            </a:r>
          </a:p>
          <a:p>
            <a:r>
              <a:rPr lang="pt-BR" dirty="0" err="1"/>
              <a:t>to_point</a:t>
            </a:r>
            <a:r>
              <a:rPr lang="pt-BR" dirty="0"/>
              <a:t> = points[i] - </a:t>
            </a:r>
            <a:r>
              <a:rPr lang="pt-BR" dirty="0" err="1"/>
              <a:t>po</a:t>
            </a:r>
            <a:r>
              <a:rPr lang="pt-BR" dirty="0"/>
              <a:t>;</a:t>
            </a:r>
          </a:p>
          <a:p>
            <a:r>
              <a:rPr lang="pt-BR" dirty="0" err="1"/>
              <a:t>dist</a:t>
            </a:r>
            <a:r>
              <a:rPr lang="pt-BR" dirty="0"/>
              <a:t> = normal.dot(</a:t>
            </a:r>
            <a:r>
              <a:rPr lang="pt-BR" dirty="0" err="1"/>
              <a:t>to_point</a:t>
            </a:r>
            <a:r>
              <a:rPr lang="pt-BR" dirty="0"/>
              <a:t>);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B09EDB9-0972-78E2-56CF-50DAC37D6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503499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64C06-CB8C-DCEA-E5AB-449A1A4A1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AA432-C5B8-3849-0ADB-6150BE2B9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Passo </a:t>
            </a:r>
            <a:r>
              <a:rPr lang="pt-BR" dirty="0" err="1"/>
              <a:t>iii</a:t>
            </a:r>
            <a:r>
              <a:rPr lang="pt-BR" dirty="0"/>
              <a:t>: produto escalar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7B8D154-2A1A-FE31-1C37-DDEA3ED8ACE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81193" y="2228003"/>
                <a:ext cx="11029616" cy="363304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pt-BR" b="1" dirty="0"/>
                  <a:t>Interpretação do sinal</a:t>
                </a:r>
              </a:p>
              <a:p>
                <a14:m>
                  <m:oMath xmlns:m="http://schemas.openxmlformats.org/officeDocument/2006/math">
                    <m:r>
                      <a:rPr lang="pt-BR" i="1"/>
                      <m:t>𝑑</m:t>
                    </m:r>
                    <m:r>
                      <a:rPr lang="pt-BR"/>
                      <m:t>=</m:t>
                    </m:r>
                    <m:acc>
                      <m:accPr>
                        <m:chr m:val="⃗"/>
                        <m:ctrlPr>
                          <a:rPr lang="ar-AE" i="1"/>
                        </m:ctrlPr>
                      </m:accPr>
                      <m:e>
                        <m:r>
                          <a:rPr lang="ar-AE" i="1"/>
                          <m:t>𝑛</m:t>
                        </m:r>
                      </m:e>
                    </m:acc>
                    <m:r>
                      <a:rPr lang="ar-AE"/>
                      <m:t>⋅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𝑃</m:t>
                        </m:r>
                        <m:r>
                          <a:rPr lang="ar-AE"/>
                          <m:t>−</m:t>
                        </m:r>
                        <m:sSub>
                          <m:sSubPr>
                            <m:ctrlPr>
                              <a:rPr lang="ar-AE" i="1"/>
                            </m:ctrlPr>
                          </m:sSubPr>
                          <m:e>
                            <m:r>
                              <a:rPr lang="ar-AE" i="1"/>
                              <m:t>𝑃</m:t>
                            </m:r>
                          </m:e>
                          <m:sub>
                            <m:r>
                              <a:rPr lang="ar-AE"/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marL="0" indent="0">
                  <a:buNone/>
                </a:pPr>
                <a:r>
                  <a:rPr lang="pt-BR" b="1" dirty="0"/>
                  <a:t>Resultado:</a:t>
                </a:r>
              </a:p>
              <a:p>
                <a:r>
                  <a:rPr lang="pt-BR" dirty="0"/>
                  <a:t>d &gt; 0</a:t>
                </a:r>
              </a:p>
              <a:p>
                <a:pPr lvl="1">
                  <a:buFont typeface="Wingdings" panose="05000000000000000000" pitchFamily="2" charset="2"/>
                  <a:buChar char="v"/>
                </a:pPr>
                <a:r>
                  <a:rPr lang="pt-BR" dirty="0"/>
                  <a:t>ponto está de um lado</a:t>
                </a:r>
              </a:p>
              <a:p>
                <a:r>
                  <a:rPr lang="pt-BR" dirty="0"/>
                  <a:t>d &lt; 0</a:t>
                </a:r>
              </a:p>
              <a:p>
                <a:pPr lvl="1">
                  <a:buFont typeface="Wingdings" panose="05000000000000000000" pitchFamily="2" charset="2"/>
                  <a:buChar char="v"/>
                </a:pPr>
                <a:r>
                  <a:rPr lang="pt-BR" dirty="0"/>
                  <a:t>ponto está do outro lado</a:t>
                </a:r>
              </a:p>
              <a:p>
                <a:r>
                  <a:rPr lang="pt-BR" dirty="0"/>
                  <a:t>d = 0</a:t>
                </a:r>
              </a:p>
              <a:p>
                <a:pPr lvl="1">
                  <a:buFont typeface="Wingdings" panose="05000000000000000000" pitchFamily="2" charset="2"/>
                  <a:buChar char="v"/>
                </a:pPr>
                <a:r>
                  <a:rPr lang="pt-BR" dirty="0"/>
                  <a:t>ponto está no plano</a:t>
                </a:r>
              </a:p>
            </p:txBody>
          </p:sp>
        </mc:Choice>
        <mc:Fallback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7B8D154-2A1A-FE31-1C37-DDEA3ED8AC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81193" y="2228003"/>
                <a:ext cx="11029616" cy="3633047"/>
              </a:xfrm>
              <a:blipFill>
                <a:blip r:embed="rId3"/>
                <a:stretch>
                  <a:fillRect l="-442" b="-3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FD7FCE2-7DA1-F268-FB96-09D9F1840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1505641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B4796-6830-4C68-F8FB-31DB86BBF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2FA26D-56CF-103A-F393-22D2EC168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Teste de Lado (</a:t>
            </a:r>
            <a:r>
              <a:rPr lang="pt-BR" dirty="0" err="1"/>
              <a:t>sameSide</a:t>
            </a:r>
            <a:r>
              <a:rPr lang="pt-BR" dirty="0"/>
              <a:t>)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1737B2-ED87-19FC-55FE-3675D2DFD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0" indent="0">
              <a:buNone/>
            </a:pPr>
            <a:r>
              <a:rPr lang="pt-BR" dirty="0" err="1">
                <a:solidFill>
                  <a:srgbClr val="C0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 err="1">
                <a:solidFill>
                  <a:srgbClr val="FF9900"/>
                </a:solidFill>
              </a:rPr>
              <a:t>sameSide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points</a:t>
            </a:r>
            <a:r>
              <a:rPr lang="pt-BR" dirty="0"/>
              <a:t>, 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pt-BR" dirty="0"/>
              <a:t>, 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j</a:t>
            </a:r>
            <a:r>
              <a:rPr lang="pt-BR" dirty="0"/>
              <a:t>, 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k</a:t>
            </a:r>
            <a:r>
              <a:rPr lang="pt-BR" dirty="0"/>
              <a:t>)</a:t>
            </a:r>
          </a:p>
          <a:p>
            <a:pPr marL="0" indent="0">
              <a:buNone/>
            </a:pPr>
            <a:r>
              <a:rPr lang="pt-BR" dirty="0"/>
              <a:t>Retorna:</a:t>
            </a:r>
          </a:p>
          <a:p>
            <a:r>
              <a:rPr lang="pt-BR" dirty="0"/>
              <a:t>&gt; 0 → todos os pontos estão de um lado</a:t>
            </a:r>
          </a:p>
          <a:p>
            <a:r>
              <a:rPr lang="pt-BR" dirty="0"/>
              <a:t>&lt; 0 → todos do lado oposto</a:t>
            </a:r>
          </a:p>
          <a:p>
            <a:r>
              <a:rPr lang="pt-BR" dirty="0"/>
              <a:t>0 → pontos em ambos os lados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E3EC88-E9D2-096B-FD67-77FBBC99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675741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DA29F-0392-22D3-EFCD-D8A06D58F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C8090-3133-9F5C-86CA-95B39FD5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Regra de Aceitação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FEC5CF-F246-AB8B-9D2C-FBA67C07F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Uma face é parte do </a:t>
            </a:r>
            <a:r>
              <a:rPr lang="pt-BR" dirty="0" err="1"/>
              <a:t>Convex</a:t>
            </a:r>
            <a:r>
              <a:rPr lang="pt-BR" dirty="0"/>
              <a:t> Hull se:</a:t>
            </a:r>
          </a:p>
          <a:p>
            <a:pPr marL="0" indent="0">
              <a:buNone/>
            </a:pPr>
            <a:r>
              <a:rPr lang="pt-BR" dirty="0"/>
              <a:t>	Todos os pontos estão </a:t>
            </a:r>
            <a:r>
              <a:rPr lang="pt-BR" b="1" dirty="0"/>
              <a:t>do mesmo lado do plano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	Isso garante que o triângulo é "externo"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7A097E-A5CF-D72D-649A-938D1155E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2289732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60FBE-D62E-D2CB-6B9F-16679BB73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24502-D29E-59AC-F6C9-3B22FDAE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Construção da Malha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7F3D81-8616-FB77-A100-23C611C43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Se válido:</a:t>
            </a:r>
          </a:p>
          <a:p>
            <a:pPr marL="324000" lvl="1" indent="0">
              <a:buNone/>
            </a:pP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faces</a:t>
            </a:r>
            <a:r>
              <a:rPr lang="pt-BR" dirty="0" err="1">
                <a:solidFill>
                  <a:schemeClr val="tx1"/>
                </a:solidFill>
              </a:rPr>
              <a:t>.</a:t>
            </a:r>
            <a:r>
              <a:rPr lang="pt-BR" dirty="0" err="1">
                <a:solidFill>
                  <a:srgbClr val="FF9900"/>
                </a:solidFill>
              </a:rPr>
              <a:t>push_back</a:t>
            </a:r>
            <a:r>
              <a:rPr lang="pt-BR" dirty="0"/>
              <a:t>({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i</a:t>
            </a:r>
            <a:r>
              <a:rPr lang="pt-BR" dirty="0"/>
              <a:t>, 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j</a:t>
            </a:r>
            <a:r>
              <a:rPr lang="pt-BR" dirty="0"/>
              <a:t>, 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k}</a:t>
            </a:r>
            <a:r>
              <a:rPr lang="pt-BR" dirty="0"/>
              <a:t>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ou invertido dependendo da orientação:</a:t>
            </a:r>
          </a:p>
          <a:p>
            <a:pPr marL="324000" lvl="1" indent="0">
              <a:buNone/>
            </a:pP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faces</a:t>
            </a:r>
            <a:r>
              <a:rPr lang="pt-BR" dirty="0" err="1">
                <a:solidFill>
                  <a:schemeClr val="tx1"/>
                </a:solidFill>
              </a:rPr>
              <a:t>.</a:t>
            </a:r>
            <a:r>
              <a:rPr lang="pt-BR" dirty="0" err="1">
                <a:solidFill>
                  <a:srgbClr val="FF9900"/>
                </a:solidFill>
              </a:rPr>
              <a:t>push_back</a:t>
            </a:r>
            <a:r>
              <a:rPr lang="pt-BR" dirty="0"/>
              <a:t>({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k</a:t>
            </a:r>
            <a:r>
              <a:rPr lang="pt-BR" dirty="0"/>
              <a:t>, 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j</a:t>
            </a:r>
            <a:r>
              <a:rPr lang="pt-BR" dirty="0"/>
              <a:t>, i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}</a:t>
            </a:r>
            <a:r>
              <a:rPr lang="pt-BR" dirty="0"/>
              <a:t>)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63D25FB-8725-E6A1-FD15-A0550A21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4191872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9E229-B810-5EE1-3755-70CFF0B81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46FD4-75E5-772C-05E5-1744AC79E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Estrutura Principal do algoritmo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00AF722-0425-FBC6-B41E-C61F7DF5D321}"/>
              </a:ext>
            </a:extLst>
          </p:cNvPr>
          <p:cNvSpPr txBox="1"/>
          <p:nvPr/>
        </p:nvSpPr>
        <p:spPr>
          <a:xfrm>
            <a:off x="581191" y="2158024"/>
            <a:ext cx="11029615" cy="397031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for</a:t>
            </a:r>
            <a:r>
              <a:rPr lang="pt-BR" dirty="0"/>
              <a:t> </a:t>
            </a:r>
            <a:r>
              <a:rPr lang="pt-BR" dirty="0">
                <a:solidFill>
                  <a:schemeClr val="bg1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chemeClr val="bg1"/>
                </a:solidFill>
              </a:rPr>
              <a:t>i =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0</a:t>
            </a:r>
            <a:r>
              <a:rPr lang="pt-BR" dirty="0">
                <a:solidFill>
                  <a:schemeClr val="bg1"/>
                </a:solidFill>
              </a:rPr>
              <a:t>; i &lt; n-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2</a:t>
            </a:r>
            <a:r>
              <a:rPr lang="pt-BR" dirty="0">
                <a:solidFill>
                  <a:schemeClr val="bg1"/>
                </a:solidFill>
              </a:rPr>
              <a:t>; i++) {</a:t>
            </a:r>
          </a:p>
          <a:p>
            <a:r>
              <a:rPr lang="pt-BR" dirty="0"/>
              <a:t>    </a:t>
            </a:r>
            <a:r>
              <a:rPr lang="pt-BR" dirty="0">
                <a:solidFill>
                  <a:srgbClr val="FF0000"/>
                </a:solidFill>
              </a:rPr>
              <a:t>for</a:t>
            </a:r>
            <a:r>
              <a:rPr lang="pt-BR" dirty="0"/>
              <a:t> </a:t>
            </a:r>
            <a:r>
              <a:rPr lang="pt-BR" dirty="0">
                <a:solidFill>
                  <a:schemeClr val="bg1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int</a:t>
            </a:r>
            <a:r>
              <a:rPr lang="pt-BR" dirty="0">
                <a:solidFill>
                  <a:schemeClr val="bg1"/>
                </a:solidFill>
              </a:rPr>
              <a:t> j = i+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1</a:t>
            </a:r>
            <a:r>
              <a:rPr lang="pt-BR" dirty="0">
                <a:solidFill>
                  <a:schemeClr val="bg1"/>
                </a:solidFill>
              </a:rPr>
              <a:t>; j &lt; n-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1</a:t>
            </a:r>
            <a:r>
              <a:rPr lang="pt-BR" dirty="0">
                <a:solidFill>
                  <a:schemeClr val="bg1"/>
                </a:solidFill>
              </a:rPr>
              <a:t>; j++) {</a:t>
            </a:r>
          </a:p>
          <a:p>
            <a:r>
              <a:rPr lang="pt-BR" dirty="0"/>
              <a:t>        </a:t>
            </a:r>
            <a:r>
              <a:rPr lang="pt-BR" dirty="0">
                <a:solidFill>
                  <a:srgbClr val="FF0000"/>
                </a:solidFill>
              </a:rPr>
              <a:t>for</a:t>
            </a:r>
            <a:r>
              <a:rPr lang="pt-BR" dirty="0"/>
              <a:t> </a:t>
            </a:r>
            <a:r>
              <a:rPr lang="pt-BR" dirty="0">
                <a:solidFill>
                  <a:schemeClr val="bg1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chemeClr val="bg1"/>
                </a:solidFill>
              </a:rPr>
              <a:t>k = j+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1</a:t>
            </a:r>
            <a:r>
              <a:rPr lang="pt-BR" dirty="0">
                <a:solidFill>
                  <a:schemeClr val="bg1"/>
                </a:solidFill>
              </a:rPr>
              <a:t>; k &lt; n; k++) {</a:t>
            </a:r>
          </a:p>
          <a:p>
            <a:endParaRPr lang="pt-BR" dirty="0"/>
          </a:p>
          <a:p>
            <a:r>
              <a:rPr lang="pt-BR" dirty="0"/>
              <a:t>            </a:t>
            </a:r>
            <a:r>
              <a:rPr lang="pt-BR" dirty="0">
                <a:solidFill>
                  <a:srgbClr val="FF0000"/>
                </a:solidFill>
              </a:rPr>
              <a:t>auto</a:t>
            </a:r>
            <a:r>
              <a:rPr lang="pt-BR" dirty="0"/>
              <a:t>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</a:rPr>
              <a:t>ss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sameSide</a:t>
            </a:r>
            <a:r>
              <a:rPr lang="pt-BR" dirty="0">
                <a:solidFill>
                  <a:schemeClr val="bg1"/>
                </a:solidFill>
              </a:rPr>
              <a:t>(points, i, j, k);</a:t>
            </a:r>
          </a:p>
          <a:p>
            <a:endParaRPr lang="pt-BR" dirty="0"/>
          </a:p>
          <a:p>
            <a:r>
              <a:rPr lang="pt-BR" dirty="0"/>
              <a:t>            </a:t>
            </a:r>
            <a:r>
              <a:rPr lang="pt-BR" dirty="0" err="1">
                <a:solidFill>
                  <a:srgbClr val="FF0000"/>
                </a:solidFill>
              </a:rPr>
              <a:t>if</a:t>
            </a:r>
            <a:r>
              <a:rPr lang="pt-BR" dirty="0"/>
              <a:t> </a:t>
            </a:r>
            <a:r>
              <a:rPr lang="pt-BR" dirty="0">
                <a:solidFill>
                  <a:schemeClr val="bg1"/>
                </a:solidFill>
              </a:rPr>
              <a:t>(</a:t>
            </a:r>
            <a:r>
              <a:rPr lang="pt-BR" dirty="0" err="1">
                <a:solidFill>
                  <a:schemeClr val="bg1"/>
                </a:solidFill>
              </a:rPr>
              <a:t>ss</a:t>
            </a:r>
            <a:r>
              <a:rPr lang="pt-BR" dirty="0">
                <a:solidFill>
                  <a:schemeClr val="bg1"/>
                </a:solidFill>
              </a:rPr>
              <a:t> &lt; 0)</a:t>
            </a:r>
          </a:p>
          <a:p>
            <a:r>
              <a:rPr lang="pt-BR" dirty="0"/>
              <a:t>                </a:t>
            </a:r>
            <a:r>
              <a:rPr lang="pt-BR" dirty="0" err="1">
                <a:solidFill>
                  <a:schemeClr val="bg1"/>
                </a:solidFill>
              </a:rPr>
              <a:t>faces.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push_back</a:t>
            </a:r>
            <a:r>
              <a:rPr lang="pt-BR" dirty="0">
                <a:solidFill>
                  <a:schemeClr val="bg1"/>
                </a:solidFill>
              </a:rPr>
              <a:t>(i, j, k);</a:t>
            </a:r>
          </a:p>
          <a:p>
            <a:endParaRPr lang="pt-BR" dirty="0"/>
          </a:p>
          <a:p>
            <a:r>
              <a:rPr lang="pt-BR" dirty="0"/>
              <a:t>            </a:t>
            </a:r>
            <a:r>
              <a:rPr lang="pt-BR" dirty="0" err="1">
                <a:solidFill>
                  <a:srgbClr val="FF0000"/>
                </a:solidFill>
              </a:rPr>
              <a:t>else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 err="1">
                <a:solidFill>
                  <a:srgbClr val="FF0000"/>
                </a:solidFill>
              </a:rPr>
              <a:t>if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>
                <a:solidFill>
                  <a:schemeClr val="bg1"/>
                </a:solidFill>
              </a:rPr>
              <a:t>(</a:t>
            </a:r>
            <a:r>
              <a:rPr lang="pt-BR" dirty="0" err="1">
                <a:solidFill>
                  <a:schemeClr val="bg1"/>
                </a:solidFill>
              </a:rPr>
              <a:t>ss</a:t>
            </a:r>
            <a:r>
              <a:rPr lang="pt-BR" dirty="0">
                <a:solidFill>
                  <a:schemeClr val="bg1"/>
                </a:solidFill>
              </a:rPr>
              <a:t> &gt; 0)</a:t>
            </a:r>
          </a:p>
          <a:p>
            <a:r>
              <a:rPr lang="pt-BR" dirty="0"/>
              <a:t>                </a:t>
            </a:r>
            <a:r>
              <a:rPr lang="pt-BR" dirty="0" err="1">
                <a:solidFill>
                  <a:schemeClr val="bg1"/>
                </a:solidFill>
              </a:rPr>
              <a:t>faces.</a:t>
            </a:r>
            <a:r>
              <a:rPr lang="pt-BR" dirty="0" err="1">
                <a:solidFill>
                  <a:schemeClr val="accent6">
                    <a:lumMod val="75000"/>
                  </a:schemeClr>
                </a:solidFill>
              </a:rPr>
              <a:t>push_back</a:t>
            </a:r>
            <a:r>
              <a:rPr lang="pt-BR" dirty="0">
                <a:solidFill>
                  <a:schemeClr val="bg1"/>
                </a:solidFill>
              </a:rPr>
              <a:t>(k, j, i);</a:t>
            </a:r>
          </a:p>
          <a:p>
            <a:r>
              <a:rPr lang="pt-BR" dirty="0"/>
              <a:t>       </a:t>
            </a:r>
            <a:r>
              <a:rPr lang="pt-BR" dirty="0">
                <a:solidFill>
                  <a:schemeClr val="bg1"/>
                </a:solidFill>
              </a:rPr>
              <a:t> }</a:t>
            </a:r>
          </a:p>
          <a:p>
            <a:r>
              <a:rPr lang="pt-BR" dirty="0">
                <a:solidFill>
                  <a:schemeClr val="bg1"/>
                </a:solidFill>
              </a:rPr>
              <a:t>    }</a:t>
            </a:r>
          </a:p>
          <a:p>
            <a:r>
              <a:rPr lang="pt-BR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3740B82A-B4F6-DE6A-302E-DB399910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636199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7EF2E-1AD3-6D58-F5CB-7E9309DAB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C288D-9242-15CC-1529-1E1A3D315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Complexidade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0E32C1-F240-4CD6-D8E9-E9D3BB448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Tempo</a:t>
            </a:r>
          </a:p>
          <a:p>
            <a:r>
              <a:rPr lang="pt-BR" dirty="0"/>
              <a:t>Iteração sobre triplas → </a:t>
            </a:r>
            <a:r>
              <a:rPr lang="pt-BR" b="1" dirty="0"/>
              <a:t>O(n³)</a:t>
            </a:r>
            <a:endParaRPr lang="pt-BR" dirty="0"/>
          </a:p>
          <a:p>
            <a:r>
              <a:rPr lang="pt-BR" dirty="0"/>
              <a:t>Teste de cada ponto → </a:t>
            </a:r>
            <a:r>
              <a:rPr lang="pt-BR" b="1" dirty="0"/>
              <a:t>O(n)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Complexidade total:</a:t>
            </a:r>
          </a:p>
          <a:p>
            <a:pPr marL="0" indent="0">
              <a:buNone/>
            </a:pPr>
            <a:r>
              <a:rPr lang="pt-BR" sz="3200" dirty="0"/>
              <a:t>O(n⁴)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83CCC52-AC91-AB71-0EA8-67E1CBC23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2036286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9B56E-606C-CAB6-CF1C-3E8A4279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96402-CB8C-F035-90BD-FD72BBEAF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Comparação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031A4186-7D06-43E8-E1AD-AC2D56316E2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60061522"/>
              </p:ext>
            </p:extLst>
          </p:nvPr>
        </p:nvGraphicFramePr>
        <p:xfrm>
          <a:off x="581025" y="3523809"/>
          <a:ext cx="11029950" cy="1040694"/>
        </p:xfrm>
        <a:graphic>
          <a:graphicData uri="http://schemas.openxmlformats.org/drawingml/2006/table">
            <a:tbl>
              <a:tblPr/>
              <a:tblGrid>
                <a:gridCol w="5514975">
                  <a:extLst>
                    <a:ext uri="{9D8B030D-6E8A-4147-A177-3AD203B41FA5}">
                      <a16:colId xmlns:a16="http://schemas.microsoft.com/office/drawing/2014/main" val="961363939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3883325052"/>
                    </a:ext>
                  </a:extLst>
                </a:gridCol>
              </a:tblGrid>
              <a:tr h="3407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00" b="1">
                          <a:solidFill>
                            <a:srgbClr val="FFFF00"/>
                          </a:solidFill>
                          <a:effectLst/>
                        </a:rPr>
                        <a:t>Método</a:t>
                      </a:r>
                    </a:p>
                  </a:txBody>
                  <a:tcPr marL="87818" marR="87818" marT="43909" marB="43909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B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00" b="1" dirty="0">
                          <a:solidFill>
                            <a:srgbClr val="FFFF00"/>
                          </a:solidFill>
                          <a:effectLst/>
                        </a:rPr>
                        <a:t>Complexidade</a:t>
                      </a:r>
                    </a:p>
                  </a:txBody>
                  <a:tcPr marL="87818" marR="87818" marT="43909" marB="43909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300041"/>
                  </a:ext>
                </a:extLst>
              </a:tr>
              <a:tr h="3407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00">
                          <a:solidFill>
                            <a:schemeClr val="bg1"/>
                          </a:solidFill>
                          <a:effectLst/>
                        </a:rPr>
                        <a:t>Força Bruta</a:t>
                      </a:r>
                    </a:p>
                  </a:txBody>
                  <a:tcPr marL="87818" marR="87818" marT="43909" marB="43909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B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00" dirty="0">
                          <a:solidFill>
                            <a:schemeClr val="bg1"/>
                          </a:solidFill>
                          <a:effectLst/>
                        </a:rPr>
                        <a:t>O(n⁴)</a:t>
                      </a:r>
                    </a:p>
                  </a:txBody>
                  <a:tcPr marL="87818" marR="87818" marT="43909" marB="43909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635158"/>
                  </a:ext>
                </a:extLst>
              </a:tr>
              <a:tr h="3407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00" dirty="0">
                          <a:solidFill>
                            <a:schemeClr val="bg1"/>
                          </a:solidFill>
                          <a:effectLst/>
                        </a:rPr>
                        <a:t>CGAL</a:t>
                      </a:r>
                    </a:p>
                  </a:txBody>
                  <a:tcPr marL="87818" marR="87818" marT="43909" marB="43909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B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00" dirty="0">
                          <a:solidFill>
                            <a:schemeClr val="bg1"/>
                          </a:solidFill>
                          <a:effectLst/>
                        </a:rPr>
                        <a:t>~O(n log n)</a:t>
                      </a:r>
                    </a:p>
                  </a:txBody>
                  <a:tcPr marL="87818" marR="87818" marT="43909" marB="43909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3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138881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8B547186-8798-F2AB-B94A-9C9C2875F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841FF14-6476-C33F-5BEC-0A41B71E0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459341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523E-F98E-8136-0593-C4E7A989A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A3525-F151-6DA2-763F-E9F18F23E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Limitações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CECA7EB-D7CB-70C7-2C30-2A042850D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r>
              <a:rPr lang="pt-BR" dirty="0"/>
              <a:t>Muito lento para grandes conjuntos</a:t>
            </a:r>
          </a:p>
          <a:p>
            <a:r>
              <a:rPr lang="pt-BR" dirty="0"/>
              <a:t>Redundância de cálculos</a:t>
            </a:r>
          </a:p>
          <a:p>
            <a:r>
              <a:rPr lang="pt-BR" dirty="0"/>
              <a:t>Geração potencial de faces duplicadas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Ideal apenas para poucos pontos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D0F7E84-6542-C868-0A25-54FD1A3D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3941104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6E3F-E1F8-ECB0-24F7-F938882EB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37F0F-C685-95E4-35F3-F7C78FE6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Vantagens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C47378-0A55-D2D8-1FA6-957C449FD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r>
              <a:rPr lang="pt-BR" dirty="0"/>
              <a:t>Simples de implementar</a:t>
            </a:r>
          </a:p>
          <a:p>
            <a:r>
              <a:rPr lang="pt-BR" dirty="0"/>
              <a:t>Fácil de entender</a:t>
            </a:r>
          </a:p>
          <a:p>
            <a:r>
              <a:rPr lang="pt-BR" dirty="0"/>
              <a:t>Boa ferramenta didática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BF38438-2BFB-200F-E920-7E56FB2C6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2720970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E6B69-7DC8-8617-51A5-0498AA3B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155CE-AFDE-8FE1-7ABD-C0410FA4B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Onde pode ser usado?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F80742-1705-1725-8455-E3B029550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0" indent="0">
              <a:buNone/>
            </a:pPr>
            <a:r>
              <a:rPr lang="pt-BR" b="1" dirty="0"/>
              <a:t>Ensino</a:t>
            </a:r>
          </a:p>
          <a:p>
            <a:r>
              <a:rPr lang="pt-BR" dirty="0"/>
              <a:t>Introdução à Geometria Computacional</a:t>
            </a:r>
          </a:p>
          <a:p>
            <a:r>
              <a:rPr lang="pt-BR" dirty="0"/>
              <a:t>Visualização de algoritmos</a:t>
            </a:r>
          </a:p>
          <a:p>
            <a:pPr marL="0" indent="0">
              <a:buNone/>
            </a:pPr>
            <a:r>
              <a:rPr lang="pt-BR" b="1" dirty="0"/>
              <a:t>Debug / Validação</a:t>
            </a:r>
          </a:p>
          <a:p>
            <a:r>
              <a:rPr lang="pt-BR" dirty="0"/>
              <a:t>Comparar com algoritmos otimizados</a:t>
            </a:r>
          </a:p>
          <a:p>
            <a:r>
              <a:rPr lang="pt-BR" dirty="0"/>
              <a:t>Verificar corretude</a:t>
            </a:r>
          </a:p>
          <a:p>
            <a:pPr marL="0" indent="0">
              <a:buNone/>
            </a:pPr>
            <a:r>
              <a:rPr lang="pt-BR" b="1" dirty="0"/>
              <a:t>Pequenos Problemas</a:t>
            </a:r>
          </a:p>
          <a:p>
            <a:r>
              <a:rPr lang="pt-BR" dirty="0"/>
              <a:t>Conjuntos com poucos pontos (n &lt; 100)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41D7CD4-918E-87EE-1B2A-0FE2EE3E3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3258555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85DD7-9830-739A-12F1-FABF3F393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D879A-A404-4706-9ADB-B621E5865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Visualização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B7916A-29E4-F87E-D33B-A0C5E0755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Elementos renderizados:</a:t>
            </a:r>
          </a:p>
          <a:p>
            <a:r>
              <a:rPr lang="pt-BR" dirty="0"/>
              <a:t>🔶 Faces (malha final)</a:t>
            </a:r>
          </a:p>
          <a:p>
            <a:r>
              <a:rPr lang="pt-BR" dirty="0"/>
              <a:t>🟢 Arestas</a:t>
            </a:r>
          </a:p>
          <a:p>
            <a:r>
              <a:rPr lang="pt-BR" dirty="0"/>
              <a:t>🔴 Vértices</a:t>
            </a:r>
          </a:p>
          <a:p>
            <a:r>
              <a:rPr lang="pt-BR" dirty="0"/>
              <a:t>🟡 Pontos originais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B9C1646-F506-DE2B-91D0-366EAB56E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3239535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CA3B8-68E0-D78C-5A9F-BA4637FD6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41E1A-8000-72EA-C49F-AAB36644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dirty="0"/>
              <a:t>Conclusão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FCA299-FD94-D1E5-F04B-85A336335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O método de força bruta:</a:t>
            </a:r>
          </a:p>
          <a:p>
            <a:r>
              <a:rPr lang="pt-BR" dirty="0"/>
              <a:t>É simples e didático</a:t>
            </a:r>
          </a:p>
          <a:p>
            <a:r>
              <a:rPr lang="pt-BR" dirty="0"/>
              <a:t>Não é eficiente para modelos grandes</a:t>
            </a:r>
          </a:p>
          <a:p>
            <a:r>
              <a:rPr lang="pt-BR" dirty="0"/>
              <a:t>Mostra claramente o conceito de convexidade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79E074-FD1D-50B2-1173-E07FEDE25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2930973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â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pic>
        <p:nvPicPr>
          <p:cNvPr id="5" name="Imagem 4" descr="Números Digitai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rgbClr val="FFFFFF"/>
                </a:solidFill>
              </a:rPr>
              <a:t>Obrigado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endParaRPr lang="pt-BR" dirty="0">
              <a:solidFill>
                <a:schemeClr val="bg2"/>
              </a:solidFill>
            </a:endParaRPr>
          </a:p>
          <a:p>
            <a:pPr rtl="0"/>
            <a:endParaRPr lang="pt-BR" dirty="0">
              <a:solidFill>
                <a:schemeClr val="bg2"/>
              </a:solidFill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CEB0ED-2419-F786-9025-5F554C8E7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ctr" rtl="0"/>
            <a:r>
              <a:rPr lang="pt-BR" sz="1000" noProof="0">
                <a:solidFill>
                  <a:srgbClr val="000000"/>
                </a:solidFill>
                <a:latin typeface="Calibri" panose="020F0502020204030204" pitchFamily="34" charset="0"/>
              </a:rPr>
              <a:t> Este documento está classificado como:</a:t>
            </a:r>
            <a:r>
              <a:rPr lang="pt-BR" sz="1000" noProof="0">
                <a:solidFill>
                  <a:srgbClr val="0000FC"/>
                </a:solidFill>
                <a:latin typeface="Calibri" panose="020F0502020204030204" pitchFamily="34" charset="0"/>
              </a:rPr>
              <a:t> Interno</a:t>
            </a:r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OCID" val="ee6b86d5-67a6-478d-bb83-3a51af135aa6"/>
  <p:tag name="CLASSIFICATIONTAGSETID" val="e16409a7-1700-4153-9090-3955bc2f0ae8"/>
  <p:tag name="CLASSIFICATION" val="Interno"/>
  <p:tag name="COMPLIANCETAGSETID" val="f14fc1f1-8950-40d5-8a29-45909da947d6"/>
  <p:tag name="FILEID" val="ee6b86d5-67a6-478d-bb83-3a51af135aa6"/>
  <p:tag name="USERID" val="CAIO FELIPE de Moura Peixoto F178998"/>
  <p:tag name="TAGDATETIME" val="2026-05-20T13:45:30Z"/>
  <p:tag name="GVDATA" val="eyJPUyI6IldpbmRvd3MiLCJkb2NJRCI6ImVlNmI4NmQ1LTY3YTYtNDc4ZC1iYjgzLTNhNTFhZjEzNWFhNiIsImRvY1N0YXRlIjoie1wiQ3VycmVudFN0YXRlXCI6XCJ7XFxcIkZpcnN0UGFnZURpZmZlcmVudFxcXCI6ZmFsc2UsXFxcIkRpZmZlcmVudE9kZEFuZEV2"/>
  <p:tag name="GVDATA0" val="ZW5QYWdlc1xcXCI6ZmFsc2UsXFxcIlBhZ2VDb3VudFxcXCI6MjQsXFxcIkhlYWRlck1ldGFkYXRhXFxcIjpcXFwiXFxcIixcXFwiVGhpcmRQYXJ0eUhlYWRlck1ldGFkYXRhXFxcIjpcXFwiXFxcIixcXFwiR1ZIZWFkZXJFeGlzdHNcXFwiOmZhbHNlLFxcXCJOb25H"/>
  <p:tag name="GVDATA1" val="VkhlYWRlckV4aXN0c1xcXCI6ZmFsc2UsXFxcIkZsb2F0aW5nSGVhZGVyRXhpc3RzXFxcIjpmYWxzZSxcXFwiTm9uR1ZIZWFkZXJTaGFwZUV4aXN0c1xcXCI6ZmFsc2UsXFxcIlRoaXJkUGFydHlIZWFkZXJzXFxcIjpbXSxcXFwiRm9vdGVyTWV0YWRhdGFcXFwiOlxc"/>
  <p:tag name="GVDATA2" val="XCJcXFwiLFxcXCJUaGlyZFBhcnR5Rm9vdGVyTWV0YWRhdGFcXFwiOlxcXCJcXFwiLFxcXCJHVkZvb3RlckV4aXN0c1xcXCI6ZmFsc2UsXFxcIk5vbkdWRm9vdGVyRXhpc3RzXFxcIjpmYWxzZSxcXFwiRmxvYXRpbmdGb290ZXJFeGlzdHNcXFwiOmZhbHNlLFxcXCJO"/>
  <p:tag name="GVDATA3" val="b25HVkZvb3RlclNoYXBlRXhpc3RzXFxcIjpmYWxzZSxcXFwiVGhpcmRQYXJ0eUZvb3RlcnNcXFwiOltdLFxcXCJXYXRlcm1hcmtNZXRhZGF0YVxcXCI6bnVsbCxcXFwiV2F0ZXJtYXJrRXhpc3RzXFxcIjpmYWxzZSxcXFwiUG93ZXJwb2ludFRpdGxlTWV0YWRhdGFc"/>
  <p:tag name="GVDATA4" val="XFwiOlxcXCJcXFwiLFxcXCJQb3dlcnBvaW50U3VidGl0bGVNZXRhZGF0YVxcXCI6XFxcIlxcXCIsXFxcIlRoaXJkUGFydHlNZXRhZGF0YUZvdW5kXFxcIjpmYWxzZX1cIixcIkZvb3RlclwiOlwiPHNwYW4+PHNwYW4+JiMxNjA7PC9zcGFuPjxzcGFuIHN0eWxlPVxc"/>
  <p:tag name="GVDATA5" val="XCJ0ZXh0LWFsaWduOmNlbnRlclxcXCI+RXN0ZSBkb2N1bWVudG8gZXN0w6EgY2xhc3NpZmljYWRvIGNvbW86PHNwYW4gc3R5bGU9XFxcImNvbG9yOiMwMDAwZmNcXFwiPiBJbnRlcm5vPC9zcGFuPiAgICBcXHRcXG48L3NwYW4+PC9zcGFuPlwiLFwiT3B0aW9uc1wi"/>
  <p:tag name="GVDATA6" val="Olwie1xcXCJQb3B1cENvbmZpZ3VyYXRpb25cXFwiOntcXFwiQWx3YXlzU2hvd1BvcHVwXFxcIjpmYWxzZSxcXFwiRW5mb3JjZUhlYWRlckZvb3RlclR5cGVcXFwiOmZhbHNlLFxcXCJIZWFkZXJQbGFjZW1lbnRUeXBlXFxcIjowLFxcXCJGb290ZXJQbGFjZW1lbnRU"/>
  <p:tag name="GVDATA7" val="eXBlXFxcIjowLFxcXCJFbmZvcmNlTGF5b3V0T3B0aW9uXFxcIjp0cnVlLFxcXCJMYXlvdXRPcHRpb25cXFwiOjAsXFxcIlRyaWdnZXJOdW1iZXJcXFwiOjEsXFxcIkZyb21JbmRleFxcXCI6MCxcXFwiVG9JbmRleFxcXCI6MCxcXFwiRW5mb3JjZU92ZXJ3cml0ZU9w"/>
  <p:tag name="GVDATA8" val="dGlvblxcXCI6dHJ1ZSxcXFwiT3ZlcndyaXRlT3B0aW9uXFxcIjpcXFwiYXBwZW5kXFxcIn0sXFxcIkhlYWRlckVuYWJsZWRcXFwiOmZhbHNlLFxcXCJIZWFkZXJcXFwiOlxcXCJcXFwiLFxcXCJIZWFkZXJzXFxcIjpudWxsLFxcXCJIZWFkZXJUeXBlXFxcIjoyLFxc"/>
  <p:tag name="GVDATA9" val="XCJIZWFkZXJUeXBlc0FsbG93ZWRcXFwiOlsyXSxcXFwiSGVhZGVyVXBkYXRlVHlwZVxcXCI6MCxcXFwiRm9vdGVyRW5hYmxlZFxcXCI6dHJ1ZSxcXFwiRm9vdGVyXFxcIjpcXFwiPHNwYW4+PHNwYW4+JiMxNjA7PC9zcGFuPjxzcGFuIHN0eWxlPVxcXFxcXFwidGV4"/>
  <p:tag name="GVDATA10" val="dC1hbGlnbjpjZW50ZXJcXFxcXFxcIj5Fc3RlIGRvY3VtZW50byBlc3TDoSBjbGFzc2lmaWNhZG8gY29tbzo8c3BhbiBzdHlsZT1cXFxcXFxcImNvbG9yOiMwMDAwZmNcXFxcXFxcIj4gSW50ZXJubzwvc3Bhbj4gICAgXFxcXHRcXFxcbjwvc3Bhbj48L3NwYW4+XFxc"/>
  <p:tag name="GVDATA11" val="IixcXFwiRm9vdGVyc1xcXCI6bnVsbCxcXFwiRm9vdGVyVHlwZVxcXCI6MCxcXFwiRm9vdGVyVHlwZXNBbGxvd2VkXFxcIjpbMCwxXSxcXFwiRm9vdGVyVXBkYXRlVHlwZVxcXCI6MSxcXFwiV2F0ZXJtYXJrXFxcIjpudWxsLFxcXCJXYXRlcm1hcmtFbmFibGVkXFxc"/>
  <p:tag name="GVDATA12" val="IjpmYWxzZSxcXFwiU2hvdWxkV3JpdGVXYXRlcm1hcmtcXFwiOmZhbHNlLFxcXCJXYXRlcm1hcmtVcGRhdGVUeXBlXFxcIjowLFxcXCJQb3dlcnBvaW50VGl0bGVcXFwiOlxcXCJcXFwiLFxcXCJQb3dlcnBvaW50U3ViaXRsZVxcXCI6XFxcIlxcXCJ9XCIsXCJTdGF0"/>
  <p:tag name="GVDATA13" val="ZVwiOlwie1xcXCJGaXJzdFBhZ2VEaWZmZXJlbnRcXFwiOmZhbHNlLFxcXCJEaWZmZXJlbnRPZGRBbmRFdmVuUGFnZXNcXFwiOmZhbHNlLFxcXCJQYWdlQ291bnRcXFwiOjI0LFxcXCJIZWFkZXJNZXRhZGF0YVxcXCI6XFxcIlxcXCIsXFxcIlRoaXJkUGFydHlIZWFk"/>
  <p:tag name="GVDATA14" val="ZXJNZXRhZGF0YVxcXCI6XFxcIlxcXCIsXFxcIkdWSGVhZGVyRXhpc3RzXFxcIjpmYWxzZSxcXFwiTm9uR1ZIZWFkZXJFeGlzdHNcXFwiOmZhbHNlLFxcXCJGbG9hdGluZ0hlYWRlckV4aXN0c1xcXCI6ZmFsc2UsXFxcIk5vbkdWSGVhZGVyU2hhcGVFeGlzdHNcXFwi"/>
  <p:tag name="GVDATA15" val="OmZhbHNlLFxcXCJUaGlyZFBhcnR5SGVhZGVyc1xcXCI6W10sXFxcIkZvb3Rlck1ldGFkYXRhXFxcIjpcXFwiXFxcIixcXFwiVGhpcmRQYXJ0eUZvb3Rlck1ldGFkYXRhXFxcIjpcXFwiXFxcIixcXFwiR1ZGb290ZXJFeGlzdHNcXFwiOmZhbHNlLFxcXCJOb25HVkZv"/>
  <p:tag name="GVDATA16" val="b3RlckV4aXN0c1xcXCI6ZmFsc2UsXFxcIkZsb2F0aW5nRm9vdGVyRXhpc3RzXFxcIjpmYWxzZSxcXFwiTm9uR1ZGb290ZXJTaGFwZUV4aXN0c1xcXCI6ZmFsc2UsXFxcIlRoaXJkUGFydHlGb290ZXJzXFxcIjpbXSxcXFwiV2F0ZXJtYXJrTWV0YWRhdGFcXFwiOm51"/>
  <p:tag name="GVDATA17" val="bGwsXFxcIldhdGVybWFya0V4aXN0c1xcXCI6ZmFsc2UsXFxcIlBvd2VycG9pbnRUaXRsZU1ldGFkYXRhXFxcIjpcXFwiXFxcIixcXFwiUG93ZXJwb2ludFN1YnRpdGxlTWV0YWRhdGFcXFwiOlxcXCJcXFwiLFxcXCJUaGlyZFBhcnR5TWV0YWRhdGFGb3VuZFxcXCI6"/>
  <p:tag name="GVDATA18" val="ZmFsc2V9XCJ9IiwicGFyZW50TGluZUlkcyI6IltcImQwMTZjOTExLWE5N2MtNGUzNS1hZDM0LTIyODAxMjkzMDk4MFwiXSIsIndyaXR0ZW5LZXlzIjoiW1wiQ2xhc3NpZmljYXRpb25cIixcIkNsYXNzaWZpY2F0aW9uVGFnU2V0SWRcIixcIkNvbXBsaWFuY2VUYWdT"/>
  <p:tag name="GVDATA19" val="ZXRJZFwiLFwiRmlsZUlkXCIsXCJndmRvY2lkXCIsXCJUYWdEYXRlVGltZVwiLFwiVXNlcklkXCJdIiwibm9PZkd2RGF0YUVudHJpZXMiOiIyMiIsImxpbmVJZCI6IjFlMDdmYTUyLTkxZTMtNDYwZS05MTM2LThiOTQ2MDNlN2Y3NyIsInRhZ3NldF9lMTY0MDlhN18x"/>
  <p:tag name="GVDATA20" val="NzAwXzQxNTNfOTA5MF8zOTU1YmMyZjBhZThfY2xhc3NpZmljYXRpb24iOiJHZW5lcmFsIEJ1c2luZXNzIn0="/>
  <p:tag name="GVDATA21" val="(end)"/>
</p:tagLst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Tecnologia (design Dividendo)</Template>
  <TotalTime>87</TotalTime>
  <Words>942</Words>
  <Application>Microsoft Office PowerPoint</Application>
  <PresentationFormat>Widescreen</PresentationFormat>
  <Paragraphs>208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Arial</vt:lpstr>
      <vt:lpstr>Calibri</vt:lpstr>
      <vt:lpstr>Gill Sans MT</vt:lpstr>
      <vt:lpstr>Wingdings</vt:lpstr>
      <vt:lpstr>Wingdings 2</vt:lpstr>
      <vt:lpstr>Dividendo</vt:lpstr>
      <vt:lpstr>Convex Hull 3D</vt:lpstr>
      <vt:lpstr>Objetivo</vt:lpstr>
      <vt:lpstr>Tecnologias utilzadas</vt:lpstr>
      <vt:lpstr>O que é Convex Hull?</vt:lpstr>
      <vt:lpstr>Exemplo conceitual</vt:lpstr>
      <vt:lpstr>Estrategia utilizada</vt:lpstr>
      <vt:lpstr>Passo a Passo</vt:lpstr>
      <vt:lpstr>Passo i: escolher 3 pontos</vt:lpstr>
      <vt:lpstr>Passo ii: construir i plano</vt:lpstr>
      <vt:lpstr>Passo ii: Produto vetorial</vt:lpstr>
      <vt:lpstr>Passo iii: testar todos os pontos</vt:lpstr>
      <vt:lpstr>Passo iii: produto escalar</vt:lpstr>
      <vt:lpstr>Teste de Lado (sameSide)</vt:lpstr>
      <vt:lpstr>Regra de Aceitação</vt:lpstr>
      <vt:lpstr>Construção da Malha</vt:lpstr>
      <vt:lpstr>Estrutura Principal do algoritmo</vt:lpstr>
      <vt:lpstr>Complexidade</vt:lpstr>
      <vt:lpstr>Comparação</vt:lpstr>
      <vt:lpstr>Limitações</vt:lpstr>
      <vt:lpstr>Vantagens</vt:lpstr>
      <vt:lpstr>Onde pode ser usado?</vt:lpstr>
      <vt:lpstr>Visualização</vt:lpstr>
      <vt:lpstr>Conclusão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CAIO FELIPE de Moura Peixoto F178998</dc:creator>
  <cp:lastModifiedBy>CAIO FELIPE de Moura Peixoto F178998</cp:lastModifiedBy>
  <cp:revision>1</cp:revision>
  <dcterms:created xsi:type="dcterms:W3CDTF">2026-05-20T12:17:32Z</dcterms:created>
  <dcterms:modified xsi:type="dcterms:W3CDTF">2026-05-20T13:45:30Z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gvdocid">
    <vt:lpwstr>ee6b86d5-67a6-478d-bb83-3a51af135aa6</vt:lpwstr>
  </property>
  <property fmtid="{D5CDD505-2E9C-101B-9397-08002B2CF9AE}" pid="4" name="ClassificationTagSetId">
    <vt:lpwstr>e16409a7-1700-4153-9090-3955bc2f0ae8</vt:lpwstr>
  </property>
  <property fmtid="{D5CDD505-2E9C-101B-9397-08002B2CF9AE}" pid="5" name="ComplianceTagSetId">
    <vt:lpwstr>f14fc1f1-8950-40d5-8a29-45909da947d6</vt:lpwstr>
  </property>
  <property fmtid="{D5CDD505-2E9C-101B-9397-08002B2CF9AE}" pid="6" name="FileId">
    <vt:lpwstr>ee6b86d5-67a6-478d-bb83-3a51af135aa6</vt:lpwstr>
  </property>
  <property fmtid="{D5CDD505-2E9C-101B-9397-08002B2CF9AE}" pid="7" name="UserId">
    <vt:lpwstr>CAIO FELIPE de Moura Peixoto F178998</vt:lpwstr>
  </property>
  <property fmtid="{D5CDD505-2E9C-101B-9397-08002B2CF9AE}" pid="8" name="TagDateTime">
    <vt:lpwstr>2026-05-20T13:45:30Z</vt:lpwstr>
  </property>
  <property fmtid="{D5CDD505-2E9C-101B-9397-08002B2CF9AE}" pid="9" name="GVData">
    <vt:lpwstr>eyJPUyI6IldpbmRvd3MiLCJkb2NJRCI6ImVlNmI4NmQ1LTY3YTYtNDc4ZC1iYjgzLTNhNTFhZjEzNWFhNiIsImRvY1N0YXRlIjoie1wiQ3VycmVudFN0YXRlXCI6XCJ7XFxcIkZpcnN0UGFnZURpZmZlcmVudFxcXCI6ZmFsc2UsXFxcIkRpZmZlcmVudE9kZEFuZEV2</vt:lpwstr>
  </property>
  <property fmtid="{D5CDD505-2E9C-101B-9397-08002B2CF9AE}" pid="10" name="GVData0">
    <vt:lpwstr>ZW5QYWdlc1xcXCI6ZmFsc2UsXFxcIlBhZ2VDb3VudFxcXCI6MjQsXFxcIkhlYWRlck1ldGFkYXRhXFxcIjpcXFwiXFxcIixcXFwiVGhpcmRQYXJ0eUhlYWRlck1ldGFkYXRhXFxcIjpcXFwiXFxcIixcXFwiR1ZIZWFkZXJFeGlzdHNcXFwiOmZhbHNlLFxcXCJOb25H</vt:lpwstr>
  </property>
  <property fmtid="{D5CDD505-2E9C-101B-9397-08002B2CF9AE}" pid="11" name="GVData1">
    <vt:lpwstr>VkhlYWRlckV4aXN0c1xcXCI6ZmFsc2UsXFxcIkZsb2F0aW5nSGVhZGVyRXhpc3RzXFxcIjpmYWxzZSxcXFwiTm9uR1ZIZWFkZXJTaGFwZUV4aXN0c1xcXCI6ZmFsc2UsXFxcIlRoaXJkUGFydHlIZWFkZXJzXFxcIjpbXSxcXFwiRm9vdGVyTWV0YWRhdGFcXFwiOlxc</vt:lpwstr>
  </property>
  <property fmtid="{D5CDD505-2E9C-101B-9397-08002B2CF9AE}" pid="12" name="GVData2">
    <vt:lpwstr>XCJcXFwiLFxcXCJUaGlyZFBhcnR5Rm9vdGVyTWV0YWRhdGFcXFwiOlxcXCJcXFwiLFxcXCJHVkZvb3RlckV4aXN0c1xcXCI6ZmFsc2UsXFxcIk5vbkdWRm9vdGVyRXhpc3RzXFxcIjpmYWxzZSxcXFwiRmxvYXRpbmdGb290ZXJFeGlzdHNcXFwiOmZhbHNlLFxcXCJO</vt:lpwstr>
  </property>
  <property fmtid="{D5CDD505-2E9C-101B-9397-08002B2CF9AE}" pid="13" name="GVData3">
    <vt:lpwstr>b25HVkZvb3RlclNoYXBlRXhpc3RzXFxcIjpmYWxzZSxcXFwiVGhpcmRQYXJ0eUZvb3RlcnNcXFwiOltdLFxcXCJXYXRlcm1hcmtNZXRhZGF0YVxcXCI6bnVsbCxcXFwiV2F0ZXJtYXJrRXhpc3RzXFxcIjpmYWxzZSxcXFwiUG93ZXJwb2ludFRpdGxlTWV0YWRhdGFc</vt:lpwstr>
  </property>
  <property fmtid="{D5CDD505-2E9C-101B-9397-08002B2CF9AE}" pid="14" name="GVData4">
    <vt:lpwstr>XFwiOlxcXCJcXFwiLFxcXCJQb3dlcnBvaW50U3VidGl0bGVNZXRhZGF0YVxcXCI6XFxcIlxcXCIsXFxcIlRoaXJkUGFydHlNZXRhZGF0YUZvdW5kXFxcIjpmYWxzZX1cIixcIkZvb3RlclwiOlwiPHNwYW4+PHNwYW4+JiMxNjA7PC9zcGFuPjxzcGFuIHN0eWxlPVxc</vt:lpwstr>
  </property>
  <property fmtid="{D5CDD505-2E9C-101B-9397-08002B2CF9AE}" pid="15" name="GVData5">
    <vt:lpwstr>XCJ0ZXh0LWFsaWduOmNlbnRlclxcXCI+RXN0ZSBkb2N1bWVudG8gZXN0w6EgY2xhc3NpZmljYWRvIGNvbW86PHNwYW4gc3R5bGU9XFxcImNvbG9yOiMwMDAwZmNcXFwiPiBJbnRlcm5vPC9zcGFuPiAgICBcXHRcXG48L3NwYW4+PC9zcGFuPlwiLFwiT3B0aW9uc1wi</vt:lpwstr>
  </property>
  <property fmtid="{D5CDD505-2E9C-101B-9397-08002B2CF9AE}" pid="16" name="GVData6">
    <vt:lpwstr>Olwie1xcXCJQb3B1cENvbmZpZ3VyYXRpb25cXFwiOntcXFwiQWx3YXlzU2hvd1BvcHVwXFxcIjpmYWxzZSxcXFwiRW5mb3JjZUhlYWRlckZvb3RlclR5cGVcXFwiOmZhbHNlLFxcXCJIZWFkZXJQbGFjZW1lbnRUeXBlXFxcIjowLFxcXCJGb290ZXJQbGFjZW1lbnRU</vt:lpwstr>
  </property>
  <property fmtid="{D5CDD505-2E9C-101B-9397-08002B2CF9AE}" pid="17" name="GVData7">
    <vt:lpwstr>eXBlXFxcIjowLFxcXCJFbmZvcmNlTGF5b3V0T3B0aW9uXFxcIjp0cnVlLFxcXCJMYXlvdXRPcHRpb25cXFwiOjAsXFxcIlRyaWdnZXJOdW1iZXJcXFwiOjEsXFxcIkZyb21JbmRleFxcXCI6MCxcXFwiVG9JbmRleFxcXCI6MCxcXFwiRW5mb3JjZU92ZXJ3cml0ZU9w</vt:lpwstr>
  </property>
  <property fmtid="{D5CDD505-2E9C-101B-9397-08002B2CF9AE}" pid="18" name="Classification">
    <vt:lpwstr>Interno</vt:lpwstr>
  </property>
  <property fmtid="{D5CDD505-2E9C-101B-9397-08002B2CF9AE}" pid="19" name="GVData8">
    <vt:lpwstr>dGlvblxcXCI6dHJ1ZSxcXFwiT3ZlcndyaXRlT3B0aW9uXFxcIjpcXFwiYXBwZW5kXFxcIn0sXFxcIkhlYWRlckVuYWJsZWRcXFwiOmZhbHNlLFxcXCJIZWFkZXJcXFwiOlxcXCJcXFwiLFxcXCJIZWFkZXJzXFxcIjpudWxsLFxcXCJIZWFkZXJUeXBlXFxcIjoyLFxc</vt:lpwstr>
  </property>
  <property fmtid="{D5CDD505-2E9C-101B-9397-08002B2CF9AE}" pid="20" name="GVData9">
    <vt:lpwstr>XCJIZWFkZXJUeXBlc0FsbG93ZWRcXFwiOlsyXSxcXFwiSGVhZGVyVXBkYXRlVHlwZVxcXCI6MCxcXFwiRm9vdGVyRW5hYmxlZFxcXCI6dHJ1ZSxcXFwiRm9vdGVyXFxcIjpcXFwiPHNwYW4+PHNwYW4+JiMxNjA7PC9zcGFuPjxzcGFuIHN0eWxlPVxcXFxcXFwidGV4</vt:lpwstr>
  </property>
  <property fmtid="{D5CDD505-2E9C-101B-9397-08002B2CF9AE}" pid="21" name="GVData10">
    <vt:lpwstr>dC1hbGlnbjpjZW50ZXJcXFxcXFxcIj5Fc3RlIGRvY3VtZW50byBlc3TDoSBjbGFzc2lmaWNhZG8gY29tbzo8c3BhbiBzdHlsZT1cXFxcXFxcImNvbG9yOiMwMDAwZmNcXFxcXFxcIj4gSW50ZXJubzwvc3Bhbj4gICAgXFxcXHRcXFxcbjwvc3Bhbj48L3NwYW4+XFxc</vt:lpwstr>
  </property>
  <property fmtid="{D5CDD505-2E9C-101B-9397-08002B2CF9AE}" pid="22" name="GVData11">
    <vt:lpwstr>IixcXFwiRm9vdGVyc1xcXCI6bnVsbCxcXFwiRm9vdGVyVHlwZVxcXCI6MCxcXFwiRm9vdGVyVHlwZXNBbGxvd2VkXFxcIjpbMCwxXSxcXFwiRm9vdGVyVXBkYXRlVHlwZVxcXCI6MSxcXFwiV2F0ZXJtYXJrXFxcIjpudWxsLFxcXCJXYXRlcm1hcmtFbmFibGVkXFxc</vt:lpwstr>
  </property>
  <property fmtid="{D5CDD505-2E9C-101B-9397-08002B2CF9AE}" pid="23" name="GVData12">
    <vt:lpwstr>IjpmYWxzZSxcXFwiU2hvdWxkV3JpdGVXYXRlcm1hcmtcXFwiOmZhbHNlLFxcXCJXYXRlcm1hcmtVcGRhdGVUeXBlXFxcIjowLFxcXCJQb3dlcnBvaW50VGl0bGVcXFwiOlxcXCJcXFwiLFxcXCJQb3dlcnBvaW50U3ViaXRsZVxcXCI6XFxcIlxcXCJ9XCIsXCJTdGF0</vt:lpwstr>
  </property>
  <property fmtid="{D5CDD505-2E9C-101B-9397-08002B2CF9AE}" pid="24" name="GVData13">
    <vt:lpwstr>ZVwiOlwie1xcXCJGaXJzdFBhZ2VEaWZmZXJlbnRcXFwiOmZhbHNlLFxcXCJEaWZmZXJlbnRPZGRBbmRFdmVuUGFnZXNcXFwiOmZhbHNlLFxcXCJQYWdlQ291bnRcXFwiOjI0LFxcXCJIZWFkZXJNZXRhZGF0YVxcXCI6XFxcIlxcXCIsXFxcIlRoaXJkUGFydHlIZWFk</vt:lpwstr>
  </property>
  <property fmtid="{D5CDD505-2E9C-101B-9397-08002B2CF9AE}" pid="25" name="GVData14">
    <vt:lpwstr>ZXJNZXRhZGF0YVxcXCI6XFxcIlxcXCIsXFxcIkdWSGVhZGVyRXhpc3RzXFxcIjpmYWxzZSxcXFwiTm9uR1ZIZWFkZXJFeGlzdHNcXFwiOmZhbHNlLFxcXCJGbG9hdGluZ0hlYWRlckV4aXN0c1xcXCI6ZmFsc2UsXFxcIk5vbkdWSGVhZGVyU2hhcGVFeGlzdHNcXFwi</vt:lpwstr>
  </property>
  <property fmtid="{D5CDD505-2E9C-101B-9397-08002B2CF9AE}" pid="26" name="GVData15">
    <vt:lpwstr>OmZhbHNlLFxcXCJUaGlyZFBhcnR5SGVhZGVyc1xcXCI6W10sXFxcIkZvb3Rlck1ldGFkYXRhXFxcIjpcXFwiXFxcIixcXFwiVGhpcmRQYXJ0eUZvb3Rlck1ldGFkYXRhXFxcIjpcXFwiXFxcIixcXFwiR1ZGb290ZXJFeGlzdHNcXFwiOmZhbHNlLFxcXCJOb25HVkZv</vt:lpwstr>
  </property>
  <property fmtid="{D5CDD505-2E9C-101B-9397-08002B2CF9AE}" pid="27" name="GVData16">
    <vt:lpwstr>b3RlckV4aXN0c1xcXCI6ZmFsc2UsXFxcIkZsb2F0aW5nRm9vdGVyRXhpc3RzXFxcIjpmYWxzZSxcXFwiTm9uR1ZGb290ZXJTaGFwZUV4aXN0c1xcXCI6ZmFsc2UsXFxcIlRoaXJkUGFydHlGb290ZXJzXFxcIjpbXSxcXFwiV2F0ZXJtYXJrTWV0YWRhdGFcXFwiOm51</vt:lpwstr>
  </property>
  <property fmtid="{D5CDD505-2E9C-101B-9397-08002B2CF9AE}" pid="28" name="GVData17">
    <vt:lpwstr>bGwsXFxcIldhdGVybWFya0V4aXN0c1xcXCI6ZmFsc2UsXFxcIlBvd2VycG9pbnRUaXRsZU1ldGFkYXRhXFxcIjpcXFwiXFxcIixcXFwiUG93ZXJwb2ludFN1YnRpdGxlTWV0YWRhdGFcXFwiOlxcXCJcXFwiLFxcXCJUaGlyZFBhcnR5TWV0YWRhdGFGb3VuZFxcXCI6</vt:lpwstr>
  </property>
  <property fmtid="{D5CDD505-2E9C-101B-9397-08002B2CF9AE}" pid="29" name="GVData18">
    <vt:lpwstr>ZmFsc2V9XCJ9IiwicGFyZW50TGluZUlkcyI6IltcImQwMTZjOTExLWE5N2MtNGUzNS1hZDM0LTIyODAxMjkzMDk4MFwiXSIsIndyaXR0ZW5LZXlzIjoiW1wiQ2xhc3NpZmljYXRpb25cIixcIkNsYXNzaWZpY2F0aW9uVGFnU2V0SWRcIixcIkNvbXBsaWFuY2VUYWdT</vt:lpwstr>
  </property>
  <property fmtid="{D5CDD505-2E9C-101B-9397-08002B2CF9AE}" pid="30" name="GVData19">
    <vt:lpwstr>ZXRJZFwiLFwiRmlsZUlkXCIsXCJndmRvY2lkXCIsXCJUYWdEYXRlVGltZVwiLFwiVXNlcklkXCJdIiwibm9PZkd2RGF0YUVudHJpZXMiOiIyMiIsImxpbmVJZCI6IjFlMDdmYTUyLTkxZTMtNDYwZS05MTM2LThiOTQ2MDNlN2Y3NyIsInRhZ3NldF9lMTY0MDlhN18x</vt:lpwstr>
  </property>
  <property fmtid="{D5CDD505-2E9C-101B-9397-08002B2CF9AE}" pid="31" name="GVData20">
    <vt:lpwstr>NzAwXzQxNTNfOTA5MF8zOTU1YmMyZjBhZThfY2xhc3NpZmljYXRpb24iOiJHZW5lcmFsIEJ1c2luZXNzIn0=</vt:lpwstr>
  </property>
  <property fmtid="{D5CDD505-2E9C-101B-9397-08002B2CF9AE}" pid="32" name="GVData21">
    <vt:lpwstr>(end)</vt:lpwstr>
  </property>
</Properties>
</file>